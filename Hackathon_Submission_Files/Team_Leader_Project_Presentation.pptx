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CDCB8-E336-06C9-9BC1-C212CD122CD0}" v="1" dt="2026-06-23T04:41:50.19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2" d="100"/>
          <a:sy n="82" d="100"/>
        </p:scale>
        <p:origin x="691"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r>
              <a:rPr lang="en-US" b="1" dirty="0"/>
              <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4864048"/>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spcBef>
                          <a:spcPts val="0"/>
                        </a:spcBef>
                        <a:spcAft>
                          <a:spcPts val="0"/>
                        </a:spcAft>
                        <a:buNone/>
                      </a:pPr>
                      <a:r>
                        <a:rPr lang="en-IN" sz="2000" dirty="0" smtClean="0"/>
                        <a:t>  </a:t>
                      </a:r>
                      <a:r>
                        <a:rPr lang="en-IN" sz="2000" dirty="0" err="1" smtClean="0"/>
                        <a:t>Badgujar</a:t>
                      </a:r>
                      <a:r>
                        <a:rPr lang="en-IN" sz="2000" baseline="0" dirty="0" smtClean="0"/>
                        <a:t> </a:t>
                      </a:r>
                      <a:r>
                        <a:rPr lang="en-IN" sz="2000" baseline="0" dirty="0" err="1" smtClean="0"/>
                        <a:t>Yash</a:t>
                      </a:r>
                      <a:r>
                        <a:rPr lang="en-IN" sz="2000" baseline="0" dirty="0" smtClean="0"/>
                        <a:t> </a:t>
                      </a:r>
                    </a:p>
                    <a:p>
                      <a:pPr marL="0" marR="0" lvl="0" indent="0" algn="ctr" rtl="0">
                        <a:spcBef>
                          <a:spcPts val="0"/>
                        </a:spcBef>
                        <a:spcAft>
                          <a:spcPts val="0"/>
                        </a:spcAft>
                        <a:buNone/>
                      </a:pPr>
                      <a:r>
                        <a:rPr lang="en-IN" sz="2000" baseline="0" dirty="0" err="1" smtClean="0"/>
                        <a:t>Rameshbhai</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IN" sz="2000" dirty="0" smtClean="0"/>
                        <a:t>yashbadgujar1533@gmail.com</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endParaRPr lang="en-IN" sz="2000" dirty="0" smtClean="0"/>
                    </a:p>
                    <a:p>
                      <a:pPr marL="0" marR="0" lvl="0" indent="0" algn="ctr" rtl="0">
                        <a:spcBef>
                          <a:spcPts val="0"/>
                        </a:spcBef>
                        <a:spcAft>
                          <a:spcPts val="0"/>
                        </a:spcAft>
                        <a:buNone/>
                      </a:pPr>
                      <a:r>
                        <a:rPr lang="en-IN" sz="2000" dirty="0" smtClean="0"/>
                        <a:t>9313417120</a:t>
                      </a:r>
                      <a:endParaRPr sz="20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a:t>Domain of  Project – </a:t>
            </a:r>
            <a:r>
              <a:rPr lang="en-US" sz="2400" b="1">
                <a:highlight>
                  <a:srgbClr val="FFFF00"/>
                </a:highlight>
              </a:rPr>
              <a:t>Tourism &amp; Heritage</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a:t>Project Title – </a:t>
            </a:r>
            <a:r>
              <a:rPr lang="en-US" sz="2400" b="1">
                <a:solidFill>
                  <a:srgbClr val="002060"/>
                </a:solidFill>
                <a:highlight>
                  <a:srgbClr val="FFFF00"/>
                </a:highlight>
                <a:latin typeface="Times New Roman"/>
                <a:ea typeface="Times New Roman"/>
                <a:cs typeface="Times New Roman"/>
                <a:sym typeface="Times New Roman"/>
              </a:rPr>
              <a:t>Smart Heritage Conservation Platform for Ahmedabad's Walled City &amp; Modhera</a:t>
            </a:r>
            <a:endParaRPr lang="en-IN" sz="2400" b="1">
              <a:highlight>
                <a:srgbClr val="FFFF00"/>
              </a:highlight>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79606" y="3580057"/>
            <a:ext cx="902942" cy="118738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a:t>Problem Statement : Smart Heritage Conservation Platform</a:t>
            </a:r>
            <a:r>
              <a:rPr lang="en-US"/>
              <a:t> </a:t>
            </a:r>
          </a:p>
          <a:p>
            <a:pPr fontAlgn="base"/>
            <a:endParaRPr lang="en-US" b="1"/>
          </a:p>
          <a:p>
            <a:pPr fontAlgn="base"/>
            <a:r>
              <a:rPr lang="en-US" b="1"/>
              <a:t>The Challenge</a:t>
            </a:r>
            <a:r>
              <a:rPr lang="en-US"/>
              <a:t> </a:t>
            </a:r>
          </a:p>
          <a:p>
            <a:pPr fontAlgn="base"/>
            <a:r>
              <a:rPr lang="en-US"/>
              <a:t>Gujarat's UNESCO heritage sites, including Ahmedabad's Walled City and Modhera Sun Temple, face conservation risks from </a:t>
            </a:r>
            <a:r>
              <a:rPr lang="en-US" b="1"/>
              <a:t>urban encroachment, weathering, and unmanaged tourist footfall</a:t>
            </a:r>
            <a:r>
              <a:rPr lang="en-US"/>
              <a:t>, while digital storytelling for visitors remains largely </a:t>
            </a:r>
            <a:r>
              <a:rPr lang="en-US" b="1"/>
              <a:t>underutilized</a:t>
            </a:r>
            <a:r>
              <a:rPr lang="en-US"/>
              <a:t>, limiting both conservation outcomes and visitor engagement. </a:t>
            </a:r>
          </a:p>
          <a:p>
            <a:pPr fontAlgn="base"/>
            <a:endParaRPr lang="en-US"/>
          </a:p>
          <a:p>
            <a:pPr fontAlgn="base"/>
            <a:r>
              <a:rPr lang="en-US" b="1"/>
              <a:t>The Objective</a:t>
            </a:r>
            <a:r>
              <a:rPr lang="en-US"/>
              <a:t> </a:t>
            </a:r>
          </a:p>
          <a:p>
            <a:pPr fontAlgn="base"/>
            <a:r>
              <a:rPr lang="en-US"/>
              <a:t>Build </a:t>
            </a:r>
            <a:r>
              <a:rPr lang="en-US" b="1"/>
              <a:t>Agentic AI solutions</a:t>
            </a:r>
            <a:r>
              <a:rPr lang="en-US"/>
              <a:t> that </a:t>
            </a:r>
            <a:r>
              <a:rPr lang="en-US" b="1"/>
              <a:t>monitor heritage site structural health, manage visitor flow, and deliver immersive, personalized cultural storytelling experiences</a:t>
            </a:r>
            <a:r>
              <a:rPr lang="en-US"/>
              <a:t> for Ahmedabad's Walled City and Modhera Sun Temple. The solution should: </a:t>
            </a:r>
          </a:p>
          <a:p>
            <a:pPr marL="285750" indent="-285750" fontAlgn="base">
              <a:buFont typeface="Arial" panose="020B0604020202020204" pitchFamily="34" charset="0"/>
              <a:buChar char="•"/>
            </a:pPr>
            <a:r>
              <a:rPr lang="en-US" b="1"/>
              <a:t>Structural Health Monitoring</a:t>
            </a:r>
            <a:r>
              <a:rPr lang="en-US"/>
              <a:t> – Continuously track cracks, vibration, and weathering data from site sensors and imagery to flag deterioration early. </a:t>
            </a:r>
          </a:p>
          <a:p>
            <a:pPr marL="285750" indent="-285750" fontAlgn="base">
              <a:buFont typeface="Arial" panose="020B0604020202020204" pitchFamily="34" charset="0"/>
              <a:buChar char="•"/>
            </a:pPr>
            <a:r>
              <a:rPr lang="en-US" b="1"/>
              <a:t>Visitor Flow Management</a:t>
            </a:r>
            <a:r>
              <a:rPr lang="en-US"/>
              <a:t> – Analyze real-time footfall and crowd density to optimize visitor routes and prevent overcrowding at sensitive zones. </a:t>
            </a:r>
          </a:p>
          <a:p>
            <a:pPr marL="285750" indent="-285750" fontAlgn="base">
              <a:buFont typeface="Arial" panose="020B0604020202020204" pitchFamily="34" charset="0"/>
              <a:buChar char="•"/>
            </a:pPr>
            <a:r>
              <a:rPr lang="en-US" b="1"/>
              <a:t>Personalized Heritage Storytelling</a:t>
            </a:r>
            <a:r>
              <a:rPr lang="en-US"/>
              <a:t> – Deliver immersive, multilingual cultural narratives tailored to each visitor's interests. </a:t>
            </a:r>
          </a:p>
          <a:p>
            <a:pPr marL="285750" indent="-285750" fontAlgn="base">
              <a:buFont typeface="Arial" panose="020B0604020202020204" pitchFamily="34" charset="0"/>
              <a:buChar char="•"/>
            </a:pPr>
            <a:r>
              <a:rPr lang="en-US" b="1"/>
              <a:t>Encroachment Detection</a:t>
            </a:r>
            <a:r>
              <a:rPr lang="en-US"/>
              <a:t> – Use satellite and drone imagery analysis to flag unauthorized construction near protected heritage zones. </a:t>
            </a:r>
          </a:p>
          <a:p>
            <a:pPr marL="285750" indent="-285750" fontAlgn="base">
              <a:buFont typeface="Arial" panose="020B0604020202020204" pitchFamily="34" charset="0"/>
              <a:buChar char="•"/>
            </a:pPr>
            <a:r>
              <a:rPr lang="en-US" b="1"/>
              <a:t>Multi-Agent System</a:t>
            </a:r>
            <a:r>
              <a:rPr lang="en-US"/>
              <a:t> – </a:t>
            </a:r>
          </a:p>
          <a:p>
            <a:pPr marL="285750" indent="-285750" fontAlgn="base">
              <a:buFont typeface="Arial" panose="020B0604020202020204" pitchFamily="34" charset="0"/>
              <a:buChar char="•"/>
            </a:pPr>
            <a:r>
              <a:rPr lang="en-US" b="1"/>
              <a:t>Structural Health Monitoring Agent</a:t>
            </a:r>
            <a:r>
              <a:rPr lang="en-US"/>
              <a:t> (monitors site conditions) </a:t>
            </a:r>
          </a:p>
          <a:p>
            <a:pPr marL="285750" indent="-285750" fontAlgn="base">
              <a:buFont typeface="Arial" panose="020B0604020202020204" pitchFamily="34" charset="0"/>
              <a:buChar char="•"/>
            </a:pPr>
            <a:r>
              <a:rPr lang="en-US" b="1"/>
              <a:t>Visitor Flow Management Agent</a:t>
            </a:r>
            <a:r>
              <a:rPr lang="en-US"/>
              <a:t> (crowd &amp; footfall optimization) </a:t>
            </a:r>
          </a:p>
          <a:p>
            <a:pPr marL="285750" indent="-285750" fontAlgn="base">
              <a:buFont typeface="Arial" panose="020B0604020202020204" pitchFamily="34" charset="0"/>
              <a:buChar char="•"/>
            </a:pPr>
            <a:r>
              <a:rPr lang="en-US" b="1"/>
              <a:t>Personalized Heritage Storytelling Agent</a:t>
            </a:r>
            <a:r>
              <a:rPr lang="en-US"/>
              <a:t> (immersive visitor experiences) </a:t>
            </a:r>
          </a:p>
          <a:p>
            <a:pPr marL="285750" indent="-285750" fontAlgn="base">
              <a:buFont typeface="Arial" panose="020B0604020202020204" pitchFamily="34" charset="0"/>
              <a:buChar char="•"/>
            </a:pPr>
            <a:r>
              <a:rPr lang="en-US" b="1"/>
              <a:t>Encroachment Detection Agent</a:t>
            </a:r>
            <a:r>
              <a:rPr lang="en-US"/>
              <a:t> (flags unauthorized activity) </a:t>
            </a:r>
          </a:p>
          <a:p>
            <a:pPr marL="285750" indent="-285750" fontAlgn="base">
              <a:buFont typeface="Arial" panose="020B0604020202020204" pitchFamily="34" charset="0"/>
              <a:buChar char="•"/>
            </a:pPr>
            <a:r>
              <a:rPr lang="en-US" b="1"/>
              <a:t>Conservation Reporting Dashboard Agent</a:t>
            </a:r>
            <a:r>
              <a:rPr lang="en-US"/>
              <a:t> – Show structural health, footfall trends, and encroachment alerts to conservation authorities. </a:t>
            </a:r>
          </a:p>
          <a:p>
            <a:pPr fontAlgn="base"/>
            <a:endParaRPr lang="en-US"/>
          </a:p>
          <a:p>
            <a:endParaRPr lang="en-IN"/>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dirty="0"/>
          </a:p>
          <a:p>
            <a:r>
              <a:rPr lang="en-US" b="1" dirty="0"/>
              <a:t>Proposed Solution: Smart Heritage Conservation Platform</a:t>
            </a:r>
          </a:p>
          <a:p>
            <a:r>
              <a:rPr lang="en-US" dirty="0"/>
              <a:t>The proposed solution is a </a:t>
            </a:r>
            <a:r>
              <a:rPr lang="en-US" b="1" dirty="0"/>
              <a:t>multi-agent Agentic AI platform for heritage conservation and visitor experience</a:t>
            </a:r>
            <a:r>
              <a:rPr lang="en-US" dirty="0"/>
              <a:t> built using </a:t>
            </a:r>
            <a:r>
              <a:rPr lang="en-US" b="1" dirty="0" err="1"/>
              <a:t>LangFlow</a:t>
            </a:r>
            <a:r>
              <a:rPr lang="en-US" b="1" dirty="0"/>
              <a:t>, IBM Bob, IBM Granite LLM, and IBM Cloud</a:t>
            </a:r>
            <a:r>
              <a:rPr lang="en-US" dirty="0"/>
              <a:t> to protect Ahmedabad's Walled City and the </a:t>
            </a:r>
            <a:r>
              <a:rPr lang="en-US" dirty="0" err="1"/>
              <a:t>Modhera</a:t>
            </a:r>
            <a:r>
              <a:rPr lang="en-US" dirty="0"/>
              <a:t> Sun Temple while enriching the visitor experience through an intelligent, modular architecture.</a:t>
            </a:r>
          </a:p>
          <a:p>
            <a:r>
              <a:rPr lang="en-US" dirty="0"/>
              <a:t>At its core, the solution uses a </a:t>
            </a:r>
            <a:r>
              <a:rPr lang="en-US" b="1" dirty="0"/>
              <a:t>Retrieval-Augmented Generation (RAG)</a:t>
            </a:r>
            <a:r>
              <a:rPr lang="en-US" dirty="0"/>
              <a:t> pipeline to fetch verified heritage, conservation, and historical data from trusted sources such as ASI records, Gujarat Tourism archives, and site survey reports. This data is embedded and stored in a vector database, enabling the system to retrieve and summarize structural health readings, footfall statistics, and cultural context using IBM Granite models.</a:t>
            </a:r>
          </a:p>
          <a:p>
            <a:r>
              <a:rPr lang="en-US" dirty="0"/>
              <a:t>The system consists of five key agents:</a:t>
            </a:r>
          </a:p>
          <a:p>
            <a:r>
              <a:rPr lang="en-US" b="1" dirty="0"/>
              <a:t>Structural Health Monitoring Agent</a:t>
            </a:r>
            <a:r>
              <a:rPr lang="en-US" dirty="0"/>
              <a:t> continuously analyzes sensor and imagery data to detect early signs of structural stress, cracks, or weathering. </a:t>
            </a:r>
          </a:p>
          <a:p>
            <a:r>
              <a:rPr lang="en-US" b="1" dirty="0"/>
              <a:t>Visitor Flow Management Agent</a:t>
            </a:r>
            <a:r>
              <a:rPr lang="en-US" dirty="0"/>
              <a:t> tracks real-time footfall and crowd density to recommend optimal visiting routes and prevent overcrowding. </a:t>
            </a:r>
          </a:p>
          <a:p>
            <a:r>
              <a:rPr lang="en-US" b="1" dirty="0"/>
              <a:t>Personalized Heritage Storytelling Agent</a:t>
            </a:r>
            <a:r>
              <a:rPr lang="en-US" dirty="0"/>
              <a:t> delivers immersive, multilingual narratives and cultural context tailored to each visitor's interests. </a:t>
            </a:r>
          </a:p>
          <a:p>
            <a:r>
              <a:rPr lang="en-US" b="1" dirty="0"/>
              <a:t>Encroachment Detection Agent</a:t>
            </a:r>
            <a:r>
              <a:rPr lang="en-US" dirty="0"/>
              <a:t> analyzes satellite and drone imagery to flag unauthorized construction near protected heritage zones. </a:t>
            </a:r>
          </a:p>
          <a:p>
            <a:r>
              <a:rPr lang="en-US" dirty="0"/>
              <a:t>The solution also includes a </a:t>
            </a:r>
            <a:r>
              <a:rPr lang="en-US" b="1" dirty="0"/>
              <a:t>Conservation Reporting Dashboard Agent</a:t>
            </a:r>
            <a:r>
              <a:rPr lang="en-US" dirty="0"/>
              <a:t> (built with </a:t>
            </a:r>
            <a:r>
              <a:rPr lang="en-US" dirty="0" err="1"/>
              <a:t>Streamlit</a:t>
            </a:r>
            <a:r>
              <a:rPr lang="en-US" dirty="0"/>
              <a:t> or React) that consolidates structural health alerts, visitor flow trends, and encroachment reports for conservation authorities and site managers.</a:t>
            </a:r>
          </a:p>
          <a:p>
            <a:r>
              <a:rPr lang="en-US" dirty="0" err="1"/>
              <a:t>LangFlow</a:t>
            </a:r>
            <a:r>
              <a:rPr lang="en-US" dirty="0"/>
              <a:t> is used to orchestrate agent workflows, IBM Bob supports development and testing, IBM Cloud ensures scalable and secure deployment, and IBM Granite LLM powers reasoning, summarization, and personalization across all agents.</a:t>
            </a:r>
          </a:p>
          <a:p>
            <a:r>
              <a:rPr lang="en-US" dirty="0"/>
              <a:t>Overall, this solution delivers an </a:t>
            </a:r>
            <a:r>
              <a:rPr lang="en-US" b="1" dirty="0"/>
              <a:t>end-to-end intelligent heritage conservation and visitor engagement platform</a:t>
            </a:r>
            <a:r>
              <a:rPr lang="en-US" dirty="0"/>
              <a:t> that safeguards Gujarat's UNESCO sites while creating richer, safer, and more personalized experiences for every visitor.</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lIns="91440" tIns="45720" rIns="91440" bIns="45720" rtlCol="0" anchor="t">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a:t>- For visually designing and orchestrating the five-agent heritage conservation and visitor-experience workflow</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dirty="0"/>
              <a:t>IBM Granite model </a:t>
            </a:r>
            <a:r>
              <a:rPr lang="en-US" sz="1800" dirty="0"/>
              <a:t>- for </a:t>
            </a:r>
            <a:r>
              <a:rPr lang="en-US" sz="1800" dirty="0" err="1"/>
              <a:t>eg</a:t>
            </a:r>
            <a:r>
              <a:rPr lang="en-US" sz="1800" dirty="0"/>
              <a:t> – granite-3-2-8b – For natural language understanding, structural report summarization, and personalized heritage storytelling</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Heritage Conservation Platform. IBM Cloud enables a </a:t>
            </a:r>
            <a:r>
              <a:rPr lang="en-US" sz="1800" b="1"/>
              <a:t>reliable, secure, and scalable environment</a:t>
            </a:r>
            <a:r>
              <a:rPr lang="en-US" sz="1800"/>
              <a:t> for deployment.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a:t>
            </a:r>
            <a:r>
              <a:rPr lang="en-US" sz="1800"/>
              <a:t>RAG to </a:t>
            </a:r>
            <a:r>
              <a:rPr lang="en-US" sz="1800" b="1"/>
              <a:t>fetch real conservation and heritage data first, then generate intelligent answers</a:t>
            </a:r>
            <a:r>
              <a:rPr lang="en-US" sz="1800"/>
              <a:t>, making the platform more trustworthy and accurate.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Bob - </a:t>
            </a:r>
            <a:r>
              <a:rPr lang="en-US" sz="1800"/>
              <a:t>IBM's AI-assisted development platform used to build, test, and troubleshoot the agent workflows</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a:t>
            </a:r>
            <a:r>
              <a:rPr lang="en-IN" sz="1800"/>
              <a:t>(FAISS/Chroma) – For RAG-based retrieval of heritage records, conservation reports, and structural sensor data</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US" dirty="0"/>
          </a:p>
          <a:p>
            <a:r>
              <a:rPr lang="en-US" b="1" dirty="0"/>
              <a:t>1) Chat Input </a:t>
            </a:r>
            <a:r>
              <a:rPr lang="en-US" dirty="0"/>
              <a:t>– Interface where visitors or conservation staff enter queries, structural reports, or storytelling requests (text/voice/image).</a:t>
            </a:r>
          </a:p>
          <a:p>
            <a:endParaRPr lang="en-US" dirty="0"/>
          </a:p>
          <a:p>
            <a:r>
              <a:rPr lang="en-US" b="1" dirty="0"/>
              <a:t>2) IBM </a:t>
            </a:r>
            <a:r>
              <a:rPr lang="en-US" b="1" dirty="0" err="1"/>
              <a:t>watsonx</a:t>
            </a:r>
            <a:r>
              <a:rPr lang="en-US" b="1" dirty="0"/>
              <a:t> AI Agent </a:t>
            </a:r>
            <a:r>
              <a:rPr lang="en-US" dirty="0"/>
              <a:t>- Processes input using Granite models to generate structural health insights, visitor flow recommendations, or personalized heritage narratives. </a:t>
            </a:r>
          </a:p>
          <a:p>
            <a:endParaRPr lang="en-US" dirty="0"/>
          </a:p>
          <a:p>
            <a:r>
              <a:rPr lang="en-US" b="1" dirty="0"/>
              <a:t>3) Name of IBM Granite model - </a:t>
            </a:r>
            <a:r>
              <a:rPr lang="en-US" dirty="0"/>
              <a:t>Granite-4.0-8B-Instruct → Efficient for real-time structural alerts and storytelling generation</a:t>
            </a:r>
          </a:p>
          <a:p>
            <a:endParaRPr lang="en-US" dirty="0"/>
          </a:p>
          <a:p>
            <a:r>
              <a:rPr lang="en-US" b="1" dirty="0"/>
              <a:t>4) Chat output -</a:t>
            </a:r>
            <a:r>
              <a:rPr lang="en-US" dirty="0"/>
              <a:t>Displays AI-generated responses such as structural health alerts, visitor flow recommendations, and heritage stories. </a:t>
            </a:r>
          </a:p>
          <a:p>
            <a:endParaRPr lang="en-US" dirty="0"/>
          </a:p>
          <a:p>
            <a:r>
              <a:rPr lang="en-US" b="1" dirty="0"/>
              <a:t>5) </a:t>
            </a:r>
            <a:r>
              <a:rPr lang="en-US" b="1" dirty="0">
                <a:highlight>
                  <a:srgbClr val="FFFF00"/>
                </a:highlight>
              </a:rPr>
              <a:t>File component - </a:t>
            </a:r>
            <a:r>
              <a:rPr lang="en-US" dirty="0">
                <a:highlight>
                  <a:srgbClr val="FFFF00"/>
                </a:highlight>
              </a:rPr>
              <a:t>Stores and retrieves sensor readings, drone/satellite imagery metadata, and heritage archive documents for analysis and tracking.</a:t>
            </a:r>
          </a:p>
          <a:p>
            <a:endParaRPr lang="en-US" dirty="0"/>
          </a:p>
          <a:p>
            <a:endParaRPr lang="en-US" dirty="0"/>
          </a:p>
          <a:p>
            <a:r>
              <a:rPr lang="en-US" dirty="0"/>
              <a:t>6) </a:t>
            </a:r>
            <a:r>
              <a:rPr lang="en-US" dirty="0">
                <a:highlight>
                  <a:srgbClr val="FFFF00"/>
                </a:highlight>
              </a:rPr>
              <a:t>Vector Store component - Stores </a:t>
            </a:r>
            <a:r>
              <a:rPr lang="en-US" dirty="0" err="1">
                <a:highlight>
                  <a:srgbClr val="FFFF00"/>
                </a:highlight>
              </a:rPr>
              <a:t>embeddings</a:t>
            </a:r>
            <a:r>
              <a:rPr lang="en-US" dirty="0">
                <a:highlight>
                  <a:srgbClr val="FFFF00"/>
                </a:highlight>
              </a:rPr>
              <a:t> of heritage records and conservation reports for RAG-based retrieval.</a:t>
            </a: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3" name="Picture 2" descr="workflow_diagram_cropped.png"/>
          <p:cNvPicPr>
            <a:picLocks noChangeAspect="1"/>
          </p:cNvPicPr>
          <p:nvPr/>
        </p:nvPicPr>
        <p:blipFill>
          <a:blip r:embed="rId3"/>
          <a:stretch>
            <a:fillRect/>
          </a:stretch>
        </p:blipFill>
        <p:spPr>
          <a:xfrm>
            <a:off x="1241641" y="1139263"/>
            <a:ext cx="10055957" cy="550545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3" name="Picture 2" descr="architecture_blueprint_cropped.png"/>
          <p:cNvPicPr>
            <a:picLocks noChangeAspect="1"/>
          </p:cNvPicPr>
          <p:nvPr/>
        </p:nvPicPr>
        <p:blipFill>
          <a:blip r:embed="rId3"/>
          <a:stretch>
            <a:fillRect/>
          </a:stretch>
        </p:blipFill>
        <p:spPr>
          <a:xfrm>
            <a:off x="1223392" y="675732"/>
            <a:ext cx="10092455" cy="61817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the Heritage Conservation Platform</a:t>
            </a:r>
          </a:p>
          <a:p>
            <a:r>
              <a:rPr lang="en-US" b="1"/>
              <a:t>Agentic AI</a:t>
            </a:r>
            <a:r>
              <a:rPr lang="en-US"/>
              <a:t> enables the platform to function as an intelligent, autonomous system rather than a simple monitoring tool. Using </a:t>
            </a:r>
            <a:r>
              <a:rPr lang="en-US" b="1"/>
              <a:t>IBM Bob</a:t>
            </a:r>
            <a:r>
              <a:rPr lang="en-US"/>
              <a:t> and </a:t>
            </a:r>
            <a:r>
              <a:rPr lang="en-US" b="1"/>
              <a:t>IBM Granite models</a:t>
            </a:r>
            <a:r>
              <a:rPr lang="en-US"/>
              <a:t>, it coordinates multiple specialized agents to protect heritage sites and guide visitors.</a:t>
            </a:r>
          </a:p>
          <a:p>
            <a:r>
              <a:rPr lang="en-US"/>
              <a:t>Each agent performs a specific role—such as monitoring structural health, managing visitor flow, detecting encroachment, and generating cultural narratives—while working collaboratively. This </a:t>
            </a:r>
            <a:r>
              <a:rPr lang="en-US" b="1"/>
              <a:t>multi-agent approach</a:t>
            </a:r>
            <a:r>
              <a:rPr lang="en-US"/>
              <a:t> ensures efficient task execution and accurate, timely conservation decisions.</a:t>
            </a:r>
          </a:p>
          <a:p>
            <a:r>
              <a:rPr lang="en-US"/>
              <a:t>Agentic AI also brings </a:t>
            </a:r>
            <a:r>
              <a:rPr lang="en-US" b="1"/>
              <a:t>context awareness</a:t>
            </a:r>
            <a:r>
              <a:rPr lang="en-US"/>
              <a:t>, understanding site conditions, footfall patterns, and visitor profiles to generate tailored alerts and recommendations. It supports </a:t>
            </a:r>
            <a:r>
              <a:rPr lang="en-US" b="1"/>
              <a:t>real-time adaptation</a:t>
            </a:r>
            <a:r>
              <a:rPr lang="en-US"/>
              <a:t>, continuously updating structural risk assessments and visitor guidance as new sensor and footfall data arrives.</a:t>
            </a:r>
          </a:p>
          <a:p>
            <a:r>
              <a:rPr lang="en-US"/>
              <a:t>Additionally, agents communicate with each other, enabling better decision-making and improved outcomes.</a:t>
            </a:r>
          </a:p>
          <a:p>
            <a:r>
              <a:rPr lang="en-US"/>
              <a:t>Overall, Agentic AI makes the system proactive, protective, and visitor-focused, acting like a </a:t>
            </a:r>
            <a:r>
              <a:rPr lang="en-US" b="1"/>
              <a:t>smart digital conservation guardian and cultural guide</a:t>
            </a:r>
            <a:r>
              <a:rPr lang="en-US"/>
              <a:t> that helps preserve Gujarat's UNESCO heritage for future generations.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[Insert total tokens used from your LangFlow run]</a:t>
            </a:r>
          </a:p>
        </p:txBody>
      </p:sp>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pic>
        <p:nvPicPr>
          <p:cNvPr id="3" name="Picture 2">
            <a:extLst>
              <a:ext uri="{FF2B5EF4-FFF2-40B4-BE49-F238E27FC236}">
                <a16:creationId xmlns:a16="http://schemas.microsoft.com/office/drawing/2014/main" id="{EF042DE0-CC17-9C9D-A197-00ECA8961C2A}"/>
              </a:ext>
            </a:extLst>
          </p:cNvPr>
          <p:cNvPicPr>
            <a:picLocks noChangeAspect="1"/>
          </p:cNvPicPr>
          <p:nvPr/>
        </p:nvPicPr>
        <p:blipFill>
          <a:blip r:embed="rId3"/>
          <a:stretch>
            <a:fillRect/>
          </a:stretch>
        </p:blipFill>
        <p:spPr>
          <a:xfrm>
            <a:off x="170222" y="2714946"/>
            <a:ext cx="5541024" cy="2643098"/>
          </a:xfrm>
          <a:prstGeom prst="rect">
            <a:avLst/>
          </a:prstGeom>
        </p:spPr>
      </p:pic>
      <p:pic>
        <p:nvPicPr>
          <p:cNvPr id="6" name="Picture 5">
            <a:extLst>
              <a:ext uri="{FF2B5EF4-FFF2-40B4-BE49-F238E27FC236}">
                <a16:creationId xmlns:a16="http://schemas.microsoft.com/office/drawing/2014/main" id="{AA85B48B-5D7F-39C0-37BA-CD581A246922}"/>
              </a:ext>
            </a:extLst>
          </p:cNvPr>
          <p:cNvPicPr>
            <a:picLocks noChangeAspect="1"/>
          </p:cNvPicPr>
          <p:nvPr/>
        </p:nvPicPr>
        <p:blipFill>
          <a:blip r:embed="rId4"/>
          <a:stretch>
            <a:fillRect/>
          </a:stretch>
        </p:blipFill>
        <p:spPr>
          <a:xfrm>
            <a:off x="6096000" y="2667366"/>
            <a:ext cx="5788126" cy="2741744"/>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Heritage Conservation Platform stands out by combining </a:t>
            </a:r>
            <a:r>
              <a:rPr lang="en-IN" sz="1800" b="1"/>
              <a:t>Agentic AI, real-time monitoring, and immersive personalization</a:t>
            </a:r>
            <a:r>
              <a:rPr lang="en-IN" sz="1800"/>
              <a:t> into a single intelligent system.</a:t>
            </a:r>
          </a:p>
          <a:p>
            <a:endParaRPr lang="en-IN" sz="1800"/>
          </a:p>
          <a:p>
            <a:r>
              <a:rPr lang="en-IN" sz="1800" b="1"/>
              <a:t>Multi-Agent Intelligence</a:t>
            </a:r>
            <a:r>
              <a:rPr lang="en-IN" sz="1800"/>
              <a:t> – Instead of a single monitoring tool, five specialized agents collaborate to protect heritage sites and guide visitors. </a:t>
            </a:r>
          </a:p>
          <a:p>
            <a:r>
              <a:rPr lang="en-IN" sz="1800" b="1"/>
              <a:t>RAG-Based Accuracy</a:t>
            </a:r>
            <a:r>
              <a:rPr lang="en-IN" sz="1800"/>
              <a:t> – Integrates real-time structural, footfall, and archival data retrieval with AI generation, reducing misinformation and ensuring trustworthy conservation alerts. </a:t>
            </a:r>
          </a:p>
          <a:p>
            <a:r>
              <a:rPr lang="en-IN" sz="1800" b="1"/>
              <a:t>Hyper-Personalization</a:t>
            </a:r>
            <a:r>
              <a:rPr lang="en-IN" sz="1800"/>
              <a:t> – Tailors heritage storytelling based on visitor interests, language, and cultural background. </a:t>
            </a:r>
          </a:p>
          <a:p>
            <a:r>
              <a:rPr lang="en-IN" sz="1800" b="1"/>
              <a:t>Real-Time Feedback Loop</a:t>
            </a:r>
            <a:r>
              <a:rPr lang="en-IN" sz="1800"/>
              <a:t> – Continuously adapts visitor routing and structural risk alerts based on live sensor and </a:t>
            </a:r>
            <a:r>
              <a:rPr lang="en-IN" sz="1800" err="1"/>
              <a:t>footfall data</a:t>
            </a:r>
            <a:r>
              <a:rPr lang="en-IN" sz="1800"/>
              <a:t>. </a:t>
            </a:r>
          </a:p>
          <a:p>
            <a:r>
              <a:rPr lang="en-IN" sz="1800" b="1"/>
              <a:t>Multi-Modal Input</a:t>
            </a:r>
            <a:r>
              <a:rPr lang="en-IN" sz="1800"/>
              <a:t> – Supports text, voice, image, and sensor-data inputs for comprehensive site monitoring and visitor interaction. </a:t>
            </a:r>
          </a:p>
          <a:p>
            <a:r>
              <a:rPr lang="en-IN" sz="1800" b="1"/>
              <a:t>Preventive Conservation Focus</a:t>
            </a:r>
            <a:r>
              <a:rPr lang="en-IN" sz="1800"/>
              <a:t> – Goes beyond monitoring to flag early-stage structural risks and unauthorized encroachment before damage occurs. </a:t>
            </a:r>
          </a:p>
          <a:p>
            <a:r>
              <a:rPr lang="en-IN" sz="1800" b="1"/>
              <a:t>Scalable &amp; Enterprise-Ready</a:t>
            </a:r>
            <a:r>
              <a:rPr lang="en-IN" sz="1800"/>
              <a:t> – Built on </a:t>
            </a:r>
            <a:r>
              <a:rPr lang="en-IN" sz="1800" b="1"/>
              <a:t>IBM Cloud</a:t>
            </a:r>
            <a:r>
              <a:rPr lang="en-IN" sz="1800"/>
              <a:t> with </a:t>
            </a:r>
            <a:r>
              <a:rPr lang="en-IN" sz="1800" b="1"/>
              <a:t>IBM Bob and IBM Granite models</a:t>
            </a:r>
            <a:r>
              <a:rPr lang="en-IN" sz="1800"/>
              <a:t>, ensuring reliability and governance. </a:t>
            </a:r>
          </a:p>
          <a:p>
            <a:endParaRPr lang="en-IN" sz="1800"/>
          </a:p>
          <a:p>
            <a:r>
              <a:rPr lang="en-IN" sz="1800"/>
              <a:t>This makes the solution a </a:t>
            </a:r>
            <a:r>
              <a:rPr lang="en-IN" sz="1800" b="1"/>
              <a:t>smart, adaptive, and proactive digital conservation guardian</a:t>
            </a:r>
            <a:r>
              <a:rPr lang="en-IN" sz="1800"/>
              <a:t>, not just a static monitoring tool.</a:t>
            </a:r>
            <a:endParaRPr lang="en-US"/>
          </a:p>
          <a:p>
            <a:endParaRPr lang="en-IN"/>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a:lnSpc>
                <a:spcPct val="162162"/>
              </a:lnSpc>
              <a:buClr>
                <a:srgbClr val="2B3541"/>
              </a:buClr>
              <a:buSzPts val="1850"/>
            </a:pPr>
            <a:r>
              <a:rPr lang="en-US" sz="2400" b="1" dirty="0">
                <a:sym typeface="Times New Roman"/>
              </a:rPr>
              <a:t>Git Hub Link</a:t>
            </a:r>
            <a:endParaRPr lang="en-IN" sz="2400" dirty="0">
              <a:latin typeface="Times New Roman"/>
              <a:ea typeface="Times New Roman"/>
              <a:cs typeface="Times New Roman"/>
              <a:sym typeface="Times New Roman"/>
            </a:endParaRPr>
          </a:p>
          <a:p>
            <a:pPr lvl="0">
              <a:lnSpc>
                <a:spcPct val="162162"/>
              </a:lnSpc>
              <a:buClr>
                <a:srgbClr val="2B3541"/>
              </a:buClr>
              <a:buSzPts val="1850"/>
            </a:pPr>
            <a:r>
              <a:rPr lang="en-IN" sz="1850" dirty="0">
                <a:latin typeface="Times New Roman"/>
                <a:ea typeface="Times New Roman"/>
                <a:cs typeface="Times New Roman"/>
                <a:sym typeface="Times New Roman"/>
              </a:rPr>
              <a:t>https://github.com/YashBadgujar15/Heritage-Intelligence-Platform</a:t>
            </a:r>
          </a:p>
          <a:p>
            <a:pPr lvl="0">
              <a:lnSpc>
                <a:spcPct val="162162"/>
              </a:lnSpc>
              <a:buClr>
                <a:srgbClr val="2B3541"/>
              </a:buClr>
              <a:buSzPts val="1850"/>
            </a:pPr>
            <a:endParaRPr lang="en-IN" sz="1850" dirty="0">
              <a:latin typeface="Times New Roman"/>
              <a:ea typeface="Times New Roman"/>
              <a:cs typeface="Times New Roman"/>
              <a:sym typeface="Times New Roman"/>
            </a:endParaRPr>
          </a:p>
          <a:p>
            <a:pPr>
              <a:lnSpc>
                <a:spcPct val="162162"/>
              </a:lnSpc>
              <a:buClr>
                <a:srgbClr val="2B3541"/>
              </a:buClr>
              <a:buSzPts val="1850"/>
            </a:pPr>
            <a:r>
              <a:rPr lang="en-US" sz="2400" b="1" dirty="0">
                <a:sym typeface="Times New Roman"/>
              </a:rPr>
              <a:t>Project Link (Website)</a:t>
            </a:r>
            <a:endParaRPr lang="en-IN" sz="2400" dirty="0"/>
          </a:p>
          <a:p>
            <a:pPr lvl="0">
              <a:lnSpc>
                <a:spcPct val="162162"/>
              </a:lnSpc>
              <a:buClr>
                <a:srgbClr val="2B3541"/>
              </a:buClr>
              <a:buSzPts val="1850"/>
            </a:pPr>
            <a:r>
              <a:rPr lang="en-IN" sz="1850" dirty="0">
                <a:latin typeface="Times New Roman"/>
                <a:ea typeface="Times New Roman"/>
                <a:cs typeface="Times New Roman"/>
                <a:sym typeface="Times New Roman"/>
              </a:rPr>
              <a:t>https://yashbadgujar15.github.io/Heritage-Intelligence-Platform/</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 Integration with IoT Sensors &amp; Drone Surveillance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IoT-based structural sensors, weather stations, and drone-based aerial surveys to collect continuous real-time data on cracks, vibration, moisture, and encroachment. This will enable the platform to provide earlier warnings and more precise conservation recommendations.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AR/VR-Based Immersive Storytelling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storytelling agent with AR/VR experiences and support for multiple languages will let visitors virtually reconstruct historical scenes and interact naturally in their preferred language, making heritage exploration more immersive and accessible to domestic and international tourists alike.</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a:t>
            </a:r>
          </a:p>
          <a:p>
            <a:pPr algn="ctr"/>
            <a:endParaRPr lang="en-US" dirty="0"/>
          </a:p>
        </p:txBody>
      </p:sp>
      <p:pic>
        <p:nvPicPr>
          <p:cNvPr id="3" name="Picture 2"/>
          <p:cNvPicPr>
            <a:picLocks noChangeAspect="1"/>
          </p:cNvPicPr>
          <p:nvPr/>
        </p:nvPicPr>
        <p:blipFill>
          <a:blip r:embed="rId2"/>
          <a:stretch>
            <a:fillRect/>
          </a:stretch>
        </p:blipFill>
        <p:spPr>
          <a:xfrm>
            <a:off x="1532432" y="791182"/>
            <a:ext cx="9477690" cy="5948191"/>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76045" y="726851"/>
            <a:ext cx="9593301" cy="6047173"/>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t="3530" b="26098"/>
          <a:stretch>
            <a:fillRect/>
          </a:stretch>
        </p:blipFill>
        <p:spPr>
          <a:xfrm>
            <a:off x="0" y="2143432"/>
            <a:ext cx="12192000" cy="1946787"/>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TotalTime>
  <Words>1208</Words>
  <Application>Microsoft Office PowerPoint</Application>
  <PresentationFormat>Widescreen</PresentationFormat>
  <Paragraphs>128</Paragraphs>
  <Slides>16</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ABCD</cp:lastModifiedBy>
  <cp:revision>18</cp:revision>
  <dcterms:created xsi:type="dcterms:W3CDTF">2025-07-08T05:06:56Z</dcterms:created>
  <dcterms:modified xsi:type="dcterms:W3CDTF">2026-09-12T09:37:53Z</dcterms:modified>
</cp:coreProperties>
</file>